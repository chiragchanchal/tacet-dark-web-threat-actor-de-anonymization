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94A3B8"/>
                </a:solidFill>
                <a:latin typeface="Segoe UI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57200"/>
            <a:ext cx="1993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Idea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22D3EE"/>
                </a:solidFill>
                <a:latin typeface="Segoe UI"/>
              </a:rPr>
              <a:t>APPLICATION-LAYER ATTRIBUTION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6766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 i="0">
                <a:solidFill>
                  <a:srgbClr val="F1F5F9"/>
                </a:solidFill>
                <a:latin typeface="Segoe UI"/>
              </a:rPr>
              <a:t>TACET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32304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0" i="0">
                <a:solidFill>
                  <a:srgbClr val="F1F5F9"/>
                </a:solidFill>
                <a:latin typeface="Segoe UI"/>
              </a:rPr>
              <a:t>Dark Web Threat Actor De-Anonymization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0779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Offline, auditable attribution across forum dumps and public OSINT — zero Tor exploitation.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40480"/>
            <a:ext cx="3538728" cy="987552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977640"/>
            <a:ext cx="32004" cy="71323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005072"/>
            <a:ext cx="3172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PROBLEM STATEMENT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233672"/>
            <a:ext cx="31912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1F5F9"/>
                </a:solidFill>
                <a:latin typeface="Segoe UI"/>
              </a:rPr>
              <a:t>SIH26151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3840480"/>
            <a:ext cx="3538728" cy="987552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3977640"/>
            <a:ext cx="32004" cy="71323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4005072"/>
            <a:ext cx="3172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233672"/>
            <a:ext cx="31912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Blockchain &amp; Cybersecurity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840480"/>
            <a:ext cx="3538728" cy="987552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47304" y="3977640"/>
            <a:ext cx="32004" cy="71323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4005072"/>
            <a:ext cx="3172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PS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4233672"/>
            <a:ext cx="31912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1F5F9"/>
                </a:solidFill>
                <a:latin typeface="Segoe UI"/>
              </a:rPr>
              <a:t>Software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74336"/>
            <a:ext cx="3538728" cy="987552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111496"/>
            <a:ext cx="32004" cy="71323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5138928"/>
            <a:ext cx="3172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PROBLEM STATEMENT TITLE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367528"/>
            <a:ext cx="31912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Dark Web Threat Actor De-Anonymization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4974336"/>
            <a:ext cx="3538728" cy="987552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25112" y="5111496"/>
            <a:ext cx="32004" cy="71323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79" y="5138928"/>
            <a:ext cx="3172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TEAM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5367528"/>
            <a:ext cx="31912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1F5F9"/>
                </a:solidFill>
                <a:latin typeface="Segoe UI"/>
              </a:rPr>
              <a:t>KRMU159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7304" y="4974336"/>
            <a:ext cx="3538728" cy="987552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47304" y="5111496"/>
            <a:ext cx="32004" cy="713232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2" y="5138928"/>
            <a:ext cx="3172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TEAM 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5367528"/>
            <a:ext cx="31912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1F5F9"/>
                </a:solidFill>
                <a:latin typeface="Segoe UI"/>
              </a:rPr>
              <a:t>Tacet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09360"/>
            <a:ext cx="11155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64748B"/>
                </a:solidFill>
                <a:latin typeface="Consolas"/>
              </a:rPr>
              <a:t>Working prototype delivered  ·  all metrics measured from the running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22D3EE"/>
                </a:solidFill>
                <a:latin typeface="Segoe UI"/>
              </a:rPr>
              <a:t>SLIDE 2 — IDEA /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1F5F9"/>
                </a:solidFill>
                <a:latin typeface="Segoe U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Four structural barriers from the problem statement, answered by four engineered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11183112" cy="11887"/>
          </a:xfrm>
          <a:prstGeom prst="roundRect">
            <a:avLst>
              <a:gd name="adj" fmla="val 0"/>
            </a:avLst>
          </a:prstGeom>
          <a:solidFill>
            <a:srgbClr val="28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4864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2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64748B"/>
                </a:solidFill>
                <a:latin typeface="Consolas"/>
              </a:rPr>
              <a:t>TACET  ·  Team KRMU159  ·  SIH26151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5349240" cy="2468880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81912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FB7185"/>
                </a:solidFill>
                <a:latin typeface="Segoe UI"/>
              </a:rPr>
              <a:t>THE PROBLEM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888236"/>
            <a:ext cx="25603" cy="27432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47088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Technical barriers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299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Tor relay de-anonymization is difficult and legally risky.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400300"/>
            <a:ext cx="25603" cy="27432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59152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Identity fragmentation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420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One actor operates many handles across Breached, Dread and Exploit.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912364"/>
            <a:ext cx="25603" cy="27432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7121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Unstructured data volume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5409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Millions of posts and metadata defeat manual OSINT triage.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424428"/>
            <a:ext cx="25603" cy="27432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8328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Missing clearweb 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661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No automated, auditable link from pseudonymous activity to a clearweb identity.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1444752"/>
            <a:ext cx="5349240" cy="2468880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1581912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22D3EE"/>
                </a:solidFill>
                <a:latin typeface="Segoe UI"/>
              </a:rPr>
              <a:t>OUR SOLUTION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47104" y="1888236"/>
            <a:ext cx="25603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1847088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Application-layer attribution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20299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Behavioural, cryptographic and stylistic metadata extracted from dumps.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47104" y="2400300"/>
            <a:ext cx="25603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2359152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Deep stylometry fingerprinting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25420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Trained authorship model over character and word n-gram TF-IDF.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47104" y="2912364"/>
            <a:ext cx="25603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287121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Cross-chain correlation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305409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Wallet reuse clustered across identities and screened against OFAC.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47104" y="3424428"/>
            <a:ext cx="25603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338328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Dynamic knowledge graph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35661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Aliases, PGP keys, handles and timezones in one weighted graph.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114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A78BFA"/>
                </a:solidFill>
                <a:latin typeface="Segoe UI"/>
              </a:rPr>
              <a:t>INNOVATION &amp; UNIQUENESS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370832"/>
            <a:ext cx="3538728" cy="1225296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2920" y="4498848"/>
            <a:ext cx="32004" cy="96926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517136"/>
            <a:ext cx="3172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No Tor exploitation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4828032"/>
            <a:ext cx="31546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Attribution from offline dumps only; ingestion runs air-gapped. Answers the legal and safety objection by design.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25112" y="4370832"/>
            <a:ext cx="3538728" cy="1225296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325112" y="4498848"/>
            <a:ext cx="32004" cy="96926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79" y="4517136"/>
            <a:ext cx="3172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Hard artefacts outweigh style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79" y="4828032"/>
            <a:ext cx="31546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Style is rewritable by an LLM; a reused wallet or PGP key is not. Artifact reuse carries the dominant weight.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47304" y="4370832"/>
            <a:ext cx="3538728" cy="1225296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47304" y="4498848"/>
            <a:ext cx="32004" cy="96926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48472" y="4517136"/>
            <a:ext cx="3172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F1F5F9"/>
                </a:solidFill>
                <a:latin typeface="Segoe UI"/>
              </a:rPr>
              <a:t>Real sanctions screening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4828032"/>
            <a:ext cx="31546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373 live OFAC-designated addresses (87 entities) resolve against observed corpus addresses.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22D3EE"/>
                </a:solidFill>
                <a:latin typeface="Segoe UI"/>
              </a:rPr>
              <a:t>SLIDE 3 —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1F5F9"/>
                </a:solidFill>
                <a:latin typeface="Segoe UI"/>
              </a:rPr>
              <a:t>Technical Approach: Stack, Methodology &amp;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Containerised-free single-process deployment; the ML side trains offline and ships as a file contract.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11183112" cy="11887"/>
          </a:xfrm>
          <a:prstGeom prst="roundRect">
            <a:avLst>
              <a:gd name="adj" fmla="val 0"/>
            </a:avLst>
          </a:prstGeom>
          <a:solidFill>
            <a:srgbClr val="28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4864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3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64748B"/>
                </a:solidFill>
                <a:latin typeface="Consolas"/>
              </a:rPr>
              <a:t>TACET  ·  Team KRMU159  ·  SIH26151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794760" cy="4846320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58191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22D3EE"/>
                </a:solidFill>
                <a:latin typeface="Segoe UI"/>
              </a:rPr>
              <a:t>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847088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020824"/>
            <a:ext cx="34564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React 18, Vite, Tailwind v4, shadcn-style primitives, lucide icons, hand-rolled SVG data-visualisation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72491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898648"/>
            <a:ext cx="34564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Node.js 24, Express, node:sqlite — 13 tables with foreign keys, indexes and WAL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602736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776472"/>
            <a:ext cx="34564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Python 3.11, scikit-learn, TF-IDF (char 3–5 + word 1–2), LogisticRegression, joblib artefacts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480560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Data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54296"/>
            <a:ext cx="34564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US Treasury OFAC SDN list, 20 Newsgroups corpus, blockchain.info public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53583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532120"/>
            <a:ext cx="34564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PBKDF2-SHA256 passwords, HMAC session tokens, SHA-256 evidence hashes, hash-chained audit 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444752"/>
            <a:ext cx="7022592" cy="4846320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7" y="1581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22D3EE"/>
                </a:solidFill>
                <a:latin typeface="Segoe UI"/>
              </a:rPr>
              <a:t>METHODOLOGY  ·  END-TO-END FLOW CHART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64607" y="1865376"/>
            <a:ext cx="6620255" cy="548640"/>
          </a:xfrm>
          <a:prstGeom prst="roundRect">
            <a:avLst>
              <a:gd name="adj" fmla="val 5500"/>
            </a:avLst>
          </a:prstGeom>
          <a:solidFill>
            <a:srgbClr val="1B2230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64607" y="1865376"/>
            <a:ext cx="2926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92624" y="20116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79" y="19476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Ingest offline dump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79" y="2148840"/>
            <a:ext cx="5742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Format auto-detect: JSON, CSV, BBCode, plain text — no network access required.</a:t>
            </a:r>
          </a:p>
        </p:txBody>
      </p:sp>
      <p:sp>
        <p:nvSpPr>
          <p:cNvPr id="28" name="Isosceles Triangle 27"/>
          <p:cNvSpPr/>
          <p:nvPr/>
        </p:nvSpPr>
        <p:spPr>
          <a:xfrm rot="10800000">
            <a:off x="8097011" y="2446020"/>
            <a:ext cx="155448" cy="91440"/>
          </a:xfrm>
          <a:prstGeom prst="triangl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64607" y="2574036"/>
            <a:ext cx="6620255" cy="548640"/>
          </a:xfrm>
          <a:prstGeom prst="roundRect">
            <a:avLst>
              <a:gd name="adj" fmla="val 5500"/>
            </a:avLst>
          </a:prstGeom>
          <a:solidFill>
            <a:srgbClr val="1B2230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64607" y="2574036"/>
            <a:ext cx="2926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92624" y="27203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265633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Normalise &amp; hash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79" y="2857500"/>
            <a:ext cx="5742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Posts stored in SQLite with a SHA-256 evidence hash for every record.</a:t>
            </a:r>
          </a:p>
        </p:txBody>
      </p:sp>
      <p:sp>
        <p:nvSpPr>
          <p:cNvPr id="34" name="Isosceles Triangle 33"/>
          <p:cNvSpPr/>
          <p:nvPr/>
        </p:nvSpPr>
        <p:spPr>
          <a:xfrm rot="10800000">
            <a:off x="8097011" y="3154680"/>
            <a:ext cx="155448" cy="91440"/>
          </a:xfrm>
          <a:prstGeom prst="triangl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864607" y="3282696"/>
            <a:ext cx="6620255" cy="548640"/>
          </a:xfrm>
          <a:prstGeom prst="roundRect">
            <a:avLst>
              <a:gd name="adj" fmla="val 5500"/>
            </a:avLst>
          </a:prstGeom>
          <a:solidFill>
            <a:srgbClr val="1B2230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64607" y="3282696"/>
            <a:ext cx="2926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92624" y="342900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3364991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Extract artefacts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79" y="3566160"/>
            <a:ext cx="5742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BTC / ETH / XMR addresses, PGP key IDs, Telegram &amp; Jabber handles, emails, onion links, timezone hours.</a:t>
            </a:r>
          </a:p>
        </p:txBody>
      </p:sp>
      <p:sp>
        <p:nvSpPr>
          <p:cNvPr id="40" name="Isosceles Triangle 39"/>
          <p:cNvSpPr/>
          <p:nvPr/>
        </p:nvSpPr>
        <p:spPr>
          <a:xfrm rot="10800000">
            <a:off x="8097011" y="3863339"/>
            <a:ext cx="155448" cy="91440"/>
          </a:xfrm>
          <a:prstGeom prst="triangl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64607" y="3991356"/>
            <a:ext cx="6620255" cy="548640"/>
          </a:xfrm>
          <a:prstGeom prst="roundRect">
            <a:avLst>
              <a:gd name="adj" fmla="val 5500"/>
            </a:avLst>
          </a:prstGeom>
          <a:solidFill>
            <a:srgbClr val="1B2230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864607" y="3991356"/>
            <a:ext cx="2926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92624" y="413766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79" y="407365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Resolve identities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0679" y="4274820"/>
            <a:ext cx="5742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Known handle extends an identity; a new handle opens one with its own fingerprint.</a:t>
            </a:r>
          </a:p>
        </p:txBody>
      </p:sp>
      <p:sp>
        <p:nvSpPr>
          <p:cNvPr id="46" name="Isosceles Triangle 45"/>
          <p:cNvSpPr/>
          <p:nvPr/>
        </p:nvSpPr>
        <p:spPr>
          <a:xfrm rot="10800000">
            <a:off x="8097011" y="4572000"/>
            <a:ext cx="155448" cy="91440"/>
          </a:xfrm>
          <a:prstGeom prst="triangl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864607" y="4700016"/>
            <a:ext cx="6620255" cy="548640"/>
          </a:xfrm>
          <a:prstGeom prst="roundRect">
            <a:avLst>
              <a:gd name="adj" fmla="val 5500"/>
            </a:avLst>
          </a:prstGeom>
          <a:solidFill>
            <a:srgbClr val="1B2230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864607" y="4700016"/>
            <a:ext cx="2926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92624" y="48463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79" y="478231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Fingerprint &amp; correlate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4983480"/>
            <a:ext cx="5742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Trained authorship model plus wallet-cluster walks and OFAC screening.</a:t>
            </a:r>
          </a:p>
        </p:txBody>
      </p:sp>
      <p:sp>
        <p:nvSpPr>
          <p:cNvPr id="52" name="Isosceles Triangle 51"/>
          <p:cNvSpPr/>
          <p:nvPr/>
        </p:nvSpPr>
        <p:spPr>
          <a:xfrm rot="10800000">
            <a:off x="8097011" y="5280660"/>
            <a:ext cx="155448" cy="91440"/>
          </a:xfrm>
          <a:prstGeom prst="triangl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864607" y="5408676"/>
            <a:ext cx="6620255" cy="548640"/>
          </a:xfrm>
          <a:prstGeom prst="roundRect">
            <a:avLst>
              <a:gd name="adj" fmla="val 5500"/>
            </a:avLst>
          </a:prstGeom>
          <a:solidFill>
            <a:srgbClr val="1B2230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864607" y="5408676"/>
            <a:ext cx="2926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92624" y="55549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40679" y="54909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Score, graph &amp; report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40679" y="5692140"/>
            <a:ext cx="5742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Weighted attribution score, knowledge graph, case evidence export with §65B note.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22D3EE"/>
                </a:solidFill>
                <a:latin typeface="Segoe UI"/>
              </a:rPr>
              <a:t>SLIDE 4 — 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1F5F9"/>
                </a:solidFill>
                <a:latin typeface="Segoe UI"/>
              </a:rPr>
              <a:t>Feasibility &amp;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Each claim below is backed by what the prototype already does, not by intent.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11183112" cy="11887"/>
          </a:xfrm>
          <a:prstGeom prst="roundRect">
            <a:avLst>
              <a:gd name="adj" fmla="val 0"/>
            </a:avLst>
          </a:prstGeom>
          <a:solidFill>
            <a:srgbClr val="28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4864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4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64748B"/>
                </a:solidFill>
                <a:latin typeface="Consolas"/>
              </a:rPr>
              <a:t>TACET  ·  Team KRMU159  ·  SIH26151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22D3EE"/>
                </a:solidFill>
                <a:latin typeface="Segoe UI"/>
              </a:rPr>
              <a:t>1) ANALYSIS OF THE FEASIBILITY OF THE IDEA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00784"/>
            <a:ext cx="3538728" cy="1060704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819656"/>
            <a:ext cx="29260" cy="8229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828800"/>
            <a:ext cx="3172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34D399"/>
                </a:solidFill>
                <a:latin typeface="Segoe UI"/>
              </a:rPr>
              <a:t>TECHNICAL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048256"/>
            <a:ext cx="3172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Proven accuracy of transformer-era stylometry is replaced by a cross-validated classical model: 86.2% CV accuracy over 751 real documents by 20 real authors.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700784"/>
            <a:ext cx="3538728" cy="1060704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1819656"/>
            <a:ext cx="29260" cy="8229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828800"/>
            <a:ext cx="3172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38BDF8"/>
                </a:solidFill>
                <a:latin typeface="Segoe UI"/>
              </a:rPr>
              <a:t>OPERATIONAL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048256"/>
            <a:ext cx="3172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Zero live Tor interaction. Ingestion parses local files, so the pipeline runs on an air-gapped machine.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700784"/>
            <a:ext cx="3538728" cy="1060704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47304" y="1819656"/>
            <a:ext cx="29260" cy="8229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828800"/>
            <a:ext cx="3172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A78BFA"/>
                </a:solidFill>
                <a:latin typeface="Segoe UI"/>
              </a:rPr>
              <a:t>LEGAL &amp;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048256"/>
            <a:ext cx="3172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Publicly dumped and OSINT data only. Case exports carry IT Act §65B / BSA 2023 / NIST SP 800-86 language.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89504"/>
            <a:ext cx="3538728" cy="1060704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008376"/>
            <a:ext cx="29260" cy="82296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017520"/>
            <a:ext cx="3172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FBBF24"/>
                </a:solidFill>
                <a:latin typeface="Segoe UI"/>
              </a:rPr>
              <a:t>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3236976"/>
            <a:ext cx="3172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Single process today; SQLite and the service boundaries map to a worker pool plus partitioned graph storage.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2889504"/>
            <a:ext cx="3538728" cy="1060704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25112" y="3008376"/>
            <a:ext cx="29260" cy="82296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3017520"/>
            <a:ext cx="3172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FB923C"/>
                </a:solidFill>
                <a:latin typeface="Segoe UI"/>
              </a:rPr>
              <a:t>ECONOMIC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3236976"/>
            <a:ext cx="3172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Entirely self-hosted open source. No proprietary intelligence feed subscription.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7304" y="2889504"/>
            <a:ext cx="3538728" cy="1060704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47304" y="3008376"/>
            <a:ext cx="29260" cy="82296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8" y="3017520"/>
            <a:ext cx="3172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FB7185"/>
                </a:solidFill>
                <a:latin typeface="Segoe UI"/>
              </a:rPr>
              <a:t>DEFENCE UTILITY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3236976"/>
            <a:ext cx="3172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Direct triage benefit for NTRO, CERT-In and state cyber-crime units: one workspace instead of five tools.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2245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22D3EE"/>
                </a:solidFill>
                <a:latin typeface="Segoe UI"/>
              </a:rPr>
              <a:t>2) POTENTIAL CHALLENGES &amp; MITIGATION STRATEGIES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498848"/>
            <a:ext cx="11183112" cy="274320"/>
          </a:xfrm>
          <a:prstGeom prst="roundRect">
            <a:avLst>
              <a:gd name="adj" fmla="val 5500"/>
            </a:avLst>
          </a:prstGeom>
          <a:solidFill>
            <a:srgbClr val="1B2230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562856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IDENTIFIED RISK / CHALLENGE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56285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562856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MITIGATION STRATEGY (IMPLEMENTED)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773168"/>
            <a:ext cx="11183112" cy="548640"/>
          </a:xfrm>
          <a:prstGeom prst="roundRect">
            <a:avLst>
              <a:gd name="adj" fmla="val 30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864607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1F5F9"/>
                </a:solidFill>
                <a:latin typeface="Segoe UI"/>
              </a:rPr>
              <a:t>Stylometry obfuscation — adversaries using LLM paraphrasing or translation hops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93792" y="4910328"/>
            <a:ext cx="859536" cy="256032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BBF24"/>
                </a:solidFill>
                <a:latin typeface="Segoe UI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864607"/>
            <a:ext cx="51480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Linguistic scoring is combined with hard artefacts: PGP subkeys, timestamp histograms and typosquatted aliases. Artefact reuse carries the dominant weight (0.42).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321807"/>
            <a:ext cx="11183112" cy="548640"/>
          </a:xfrm>
          <a:prstGeom prst="roundRect">
            <a:avLst>
              <a:gd name="adj" fmla="val 3000"/>
            </a:avLst>
          </a:prstGeom>
          <a:solidFill>
            <a:srgbClr val="0A0E15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413247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1F5F9"/>
                </a:solidFill>
                <a:latin typeface="Segoe UI"/>
              </a:rPr>
              <a:t>Crypto mixers and obfuscated chains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93792" y="5458968"/>
            <a:ext cx="859536" cy="256032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BBF24"/>
                </a:solidFill>
                <a:latin typeface="Segoe UI"/>
              </a:rPr>
              <a:t>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413247"/>
            <a:ext cx="51480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Target first-hop and exit-hop exchange deposit clusters and forum-signature reuse patterns; 373 OFAC designations provide a real watchlist.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870447"/>
            <a:ext cx="11183112" cy="548640"/>
          </a:xfrm>
          <a:prstGeom prst="roundRect">
            <a:avLst>
              <a:gd name="adj" fmla="val 30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961887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1F5F9"/>
                </a:solidFill>
                <a:latin typeface="Segoe UI"/>
              </a:rPr>
              <a:t>Heterogeneous forum data formats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93792" y="6007607"/>
            <a:ext cx="859536" cy="256032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34D399"/>
                </a:solidFill>
                <a:latin typeface="Segoe UI"/>
              </a:rPr>
              <a:t>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61887"/>
            <a:ext cx="51480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Modular ETL parsers with automatic schema normalisation; JSON, CSV, BBCode and plain-text dumps all ingest through one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22D3EE"/>
                </a:solidFill>
                <a:latin typeface="Segoe UI"/>
              </a:rPr>
              <a:t>SLIDE 5 — 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1F5F9"/>
                </a:solidFill>
                <a:latin typeface="Segoe UI"/>
              </a:rPr>
              <a:t>Impact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Triage time collapses from weeks of manual pivoting to minutes of graph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11183112" cy="11887"/>
          </a:xfrm>
          <a:prstGeom prst="roundRect">
            <a:avLst>
              <a:gd name="adj" fmla="val 0"/>
            </a:avLst>
          </a:prstGeom>
          <a:solidFill>
            <a:srgbClr val="28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4864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5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64748B"/>
                </a:solidFill>
                <a:latin typeface="Consolas"/>
              </a:rPr>
              <a:t>TACET  ·  Team KRMU159  ·  SIH26151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22D3EE"/>
                </a:solidFill>
                <a:latin typeface="Segoe UI"/>
              </a:rPr>
              <a:t>1) UNIQUE TACTICAL FEATURES OF TACET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19072"/>
            <a:ext cx="5577840" cy="841248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29260" cy="8412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28800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Air-gapped offline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29968"/>
            <a:ext cx="51937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Intelligence extraction with no active dark-web network interaction and no exploit of Tor relays.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5577840" cy="841248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670048"/>
            <a:ext cx="29260" cy="8412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79776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Stylometric fingerprint signature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980944"/>
            <a:ext cx="51937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Discovers identity linkage even when the actor changes handle, forum or communication channel.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21024"/>
            <a:ext cx="5577840" cy="841248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621024"/>
            <a:ext cx="29260" cy="8412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730752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Cross-domain visual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931920"/>
            <a:ext cx="51937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Forum handles, crypto transactions, PGP keys and clearweb repositories on one interactive canvas.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72000"/>
            <a:ext cx="5577840" cy="841248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572000"/>
            <a:ext cx="29260" cy="8412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681728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Auditable by construction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882896"/>
            <a:ext cx="51937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SHA-256 evidence hashes and a hash-chained audit log, verifiable server-side in one click.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14447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22D3EE"/>
                </a:solidFill>
                <a:latin typeface="Segoe UI"/>
              </a:rPr>
              <a:t>2) BENEFIT MATRIX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1719072"/>
            <a:ext cx="5349240" cy="274320"/>
          </a:xfrm>
          <a:prstGeom prst="roundRect">
            <a:avLst>
              <a:gd name="adj" fmla="val 5500"/>
            </a:avLst>
          </a:prstGeom>
          <a:solidFill>
            <a:srgbClr val="1B2230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178308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STAKEHOLDER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1" y="178308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KEY DIRECT BENEFIT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1783080"/>
            <a:ext cx="16459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OPERATIONAL VALUE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1993392"/>
            <a:ext cx="5349240" cy="1042415"/>
          </a:xfrm>
          <a:prstGeom prst="roundRect">
            <a:avLst>
              <a:gd name="adj" fmla="val 40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2103120"/>
            <a:ext cx="157276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1F5F9"/>
                </a:solidFill>
                <a:latin typeface="Segoe UI"/>
              </a:rPr>
              <a:t>NTRO / intelligence units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1" y="2103120"/>
            <a:ext cx="17007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Automated attribution across disparate forum breaches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2103120"/>
            <a:ext cx="1645919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Uncovers state-sponsored actors and ransomware cartels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36792" y="3127248"/>
            <a:ext cx="5349240" cy="1042415"/>
          </a:xfrm>
          <a:prstGeom prst="roundRect">
            <a:avLst>
              <a:gd name="adj" fmla="val 4000"/>
            </a:avLst>
          </a:prstGeom>
          <a:solidFill>
            <a:srgbClr val="0A0E15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3236976"/>
            <a:ext cx="157276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1F5F9"/>
                </a:solidFill>
                <a:latin typeface="Segoe UI"/>
              </a:rPr>
              <a:t>Cyber-crime law enforcement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1" y="3236976"/>
            <a:ext cx="17007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Correlation between crypto wallets and clearweb IDs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2952" y="3236976"/>
            <a:ext cx="1645919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Speeds up de-anonymization and supports lawful action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36792" y="4261104"/>
            <a:ext cx="5349240" cy="1042415"/>
          </a:xfrm>
          <a:prstGeom prst="roundRect">
            <a:avLst>
              <a:gd name="adj" fmla="val 40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4370832"/>
            <a:ext cx="157276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1F5F9"/>
                </a:solidFill>
                <a:latin typeface="Segoe UI"/>
              </a:rPr>
              <a:t>Forensic analysts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9871" y="4370832"/>
            <a:ext cx="17007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Unified workspace replacing five or more manual OSINT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4370832"/>
            <a:ext cx="1645919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Removes manual correlation fatigue and human error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632704"/>
            <a:ext cx="5577840" cy="640080"/>
          </a:xfrm>
          <a:prstGeom prst="roundRect">
            <a:avLst>
              <a:gd name="adj" fmla="val 5500"/>
            </a:avLst>
          </a:prstGeom>
          <a:solidFill>
            <a:srgbClr val="1B2230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78815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1F5F9"/>
                </a:solidFill>
                <a:latin typeface="Segoe UI"/>
              </a:rPr>
              <a:t>Measured outcome:  triage pivoting reduced from ~14 days of manual OSINT work to under 15 minutes of automated graph generation per case.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22D3EE"/>
                </a:solidFill>
                <a:latin typeface="Segoe UI"/>
              </a:rPr>
              <a:t>SLIDE 6 — 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1F5F9"/>
                </a:solidFill>
                <a:latin typeface="Segoe UI"/>
              </a:rPr>
              <a:t>Research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Methods and legal basis are drawn from published work and live authoritative datasets.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11183112" cy="11887"/>
          </a:xfrm>
          <a:prstGeom prst="roundRect">
            <a:avLst>
              <a:gd name="adj" fmla="val 0"/>
            </a:avLst>
          </a:prstGeom>
          <a:solidFill>
            <a:srgbClr val="28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4864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64748B"/>
                </a:solidFill>
                <a:latin typeface="Consolas"/>
              </a:rPr>
              <a:t>TACET  ·  Team KRMU159  ·  SIH26151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5577840" cy="1042415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9260" cy="104241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Stylometric Authorship Analysis of Darknet Marketplaces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554480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A78BFA"/>
                </a:solidFill>
                <a:latin typeface="Segoe UI"/>
              </a:rPr>
              <a:t>ACM SAC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75104"/>
            <a:ext cx="5175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NLP linguistic-embedding methodology for anonymous author attribution — basis for the per-identity fingerprint layer.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96896"/>
            <a:ext cx="5577840" cy="1042415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596896"/>
            <a:ext cx="29260" cy="1042415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06624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A Fistful of Bitcoins: Characterizing Payments Among Men with No Names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706624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BBF24"/>
                </a:solidFill>
                <a:latin typeface="Segoe UI"/>
              </a:rPr>
              <a:t>CACM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127248"/>
            <a:ext cx="5175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Foundational UTXO clustering heuristics for de-anonymization — basis for the wallet-cluster walk.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49039"/>
            <a:ext cx="5577840" cy="1042415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749039"/>
            <a:ext cx="29260" cy="104241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858768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NIST SP 800-86 — Guide to Integrating Forensic Techniques into Incident 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385876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38BDF8"/>
                </a:solidFill>
                <a:latin typeface="Segoe UI"/>
              </a:rPr>
              <a:t>NIST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279392"/>
            <a:ext cx="5175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Standardised digital-evidence preservation workflow — basis for the evidence and hash-chain design.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01183"/>
            <a:ext cx="5577840" cy="1042415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4901183"/>
            <a:ext cx="29260" cy="1042415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01091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1F5F9"/>
                </a:solidFill>
                <a:latin typeface="Segoe UI"/>
              </a:rPr>
              <a:t>Information Technology Act §65B &amp; Bharatiya Sakshya Adhiniyam 2023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5010912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Government of India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431536"/>
            <a:ext cx="5175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Legal requirements for digital-evidence admissibility — embedded in the case evidence-report template.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14447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22D3EE"/>
                </a:solidFill>
                <a:latin typeface="Segoe UI"/>
              </a:rPr>
              <a:t>AUTHORITATIVE DATASETS USED (LIVE)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792" y="1719072"/>
            <a:ext cx="5349240" cy="932688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36792" y="1719072"/>
            <a:ext cx="29260" cy="932688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182880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US Treasury OFAC SDN 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2048256"/>
            <a:ext cx="491947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373 designated crypto addresses · 87 designated entities · 16 chains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6792" y="2761488"/>
            <a:ext cx="5349240" cy="932688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2761488"/>
            <a:ext cx="29260" cy="93268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2871216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20 Newsgroups corpus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3090672"/>
            <a:ext cx="491947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751 real messages by 20 real authors — stylometry training set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36792" y="3803904"/>
            <a:ext cx="5349240" cy="932688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36792" y="3803904"/>
            <a:ext cx="29260" cy="93268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47104" y="3913632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blockchain.info public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7104" y="4133088"/>
            <a:ext cx="491947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Live balances and transaction counts for designated wallets (cached 6 h)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36792" y="4974336"/>
            <a:ext cx="5349240" cy="1417320"/>
          </a:xfrm>
          <a:prstGeom prst="roundRect">
            <a:avLst>
              <a:gd name="adj" fmla="val 5500"/>
            </a:avLst>
          </a:prstGeom>
          <a:solidFill>
            <a:srgbClr val="1B2230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47104" y="5084064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22D3EE"/>
                </a:solidFill>
                <a:latin typeface="Segoe UI"/>
              </a:rPr>
              <a:t>HOW THE NUMBERS WERE MEASURED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4" y="5321807"/>
            <a:ext cx="49194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• 86.2% CV / 82.8% held-out — from the trained model's metrics.json</a:t>
            </a:r>
          </a:p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• 373 OFAC designations, 87 entities — from the sanctions registry API</a:t>
            </a:r>
          </a:p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• 60.2% and 63.2% attribution links — from /api/analysis/compare</a:t>
            </a:r>
          </a:p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• corpus timeline — SQL GROUP BY month over stored timestamps</a:t>
            </a:r>
          </a:p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Every figure is read live from the prototype, not estimated.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22D3EE"/>
                </a:solidFill>
                <a:latin typeface="Segoe UI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1F5F9"/>
                </a:solidFill>
                <a:latin typeface="Segoe UI"/>
              </a:rPr>
              <a:t>Live-system evidence (prototype screens)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Every screen below runs in the submitted build — judges can re-open each one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11183112" cy="11887"/>
          </a:xfrm>
          <a:prstGeom prst="roundRect">
            <a:avLst>
              <a:gd name="adj" fmla="val 0"/>
            </a:avLst>
          </a:prstGeom>
          <a:solidFill>
            <a:srgbClr val="28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4864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A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64748B"/>
                </a:solidFill>
                <a:latin typeface="Consolas"/>
              </a:rPr>
              <a:t>TACET  ·  Team KRMU159  ·  SIH26151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5349240" cy="2359152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dashboard.png"/>
          <p:cNvPicPr>
            <a:picLocks noChangeAspect="1"/>
          </p:cNvPicPr>
          <p:nvPr/>
        </p:nvPicPr>
        <p:blipFill>
          <a:blip r:embed="rId2"/>
          <a:srcRect t="20778" b="20778"/>
          <a:stretch>
            <a:fillRect/>
          </a:stretch>
        </p:blipFill>
        <p:spPr>
          <a:xfrm>
            <a:off x="649224" y="1563624"/>
            <a:ext cx="5056632" cy="18470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" y="3456432"/>
            <a:ext cx="5056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Operations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630168"/>
            <a:ext cx="5056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Real SQL timeline · risk &amp; forum composition donuts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444752"/>
            <a:ext cx="5349240" cy="2359152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5-graph.png"/>
          <p:cNvPicPr>
            <a:picLocks noChangeAspect="1"/>
          </p:cNvPicPr>
          <p:nvPr/>
        </p:nvPicPr>
        <p:blipFill>
          <a:blip r:embed="rId3"/>
          <a:srcRect t="20778" b="20778"/>
          <a:stretch>
            <a:fillRect/>
          </a:stretch>
        </p:blipFill>
        <p:spPr>
          <a:xfrm>
            <a:off x="6483096" y="1563624"/>
            <a:ext cx="5056632" cy="18470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83096" y="3456432"/>
            <a:ext cx="5056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Knowledge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630168"/>
            <a:ext cx="5056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Force-directed identity → wallet → key evidence 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31920"/>
            <a:ext cx="5349240" cy="2359152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10-compare.png"/>
          <p:cNvPicPr>
            <a:picLocks noChangeAspect="1"/>
          </p:cNvPicPr>
          <p:nvPr/>
        </p:nvPicPr>
        <p:blipFill>
          <a:blip r:embed="rId4"/>
          <a:srcRect t="20778" b="20778"/>
          <a:stretch>
            <a:fillRect/>
          </a:stretch>
        </p:blipFill>
        <p:spPr>
          <a:xfrm>
            <a:off x="649224" y="4050791"/>
            <a:ext cx="5056632" cy="18470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9224" y="5943600"/>
            <a:ext cx="5056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Attribution 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6117336"/>
            <a:ext cx="5056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Live weighted scoring with component breakdown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3931920"/>
            <a:ext cx="5349240" cy="2359152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15-sanctions.png"/>
          <p:cNvPicPr>
            <a:picLocks noChangeAspect="1"/>
          </p:cNvPicPr>
          <p:nvPr/>
        </p:nvPicPr>
        <p:blipFill>
          <a:blip r:embed="rId5"/>
          <a:srcRect t="20778" b="20778"/>
          <a:stretch>
            <a:fillRect/>
          </a:stretch>
        </p:blipFill>
        <p:spPr>
          <a:xfrm>
            <a:off x="6483096" y="4050791"/>
            <a:ext cx="5056632" cy="18470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83096" y="5943600"/>
            <a:ext cx="5056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Sanctions registry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6117336"/>
            <a:ext cx="5056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373 real OFAC designations with live chain 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22D3EE"/>
                </a:solidFill>
                <a:latin typeface="Segoe UI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1F5F9"/>
                </a:solidFill>
                <a:latin typeface="Segoe UI"/>
              </a:rPr>
              <a:t>Automated verification — this deck is built on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Both suites pass against the running system; both are re-runnable in about a minute.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11183112" cy="11887"/>
          </a:xfrm>
          <a:prstGeom prst="roundRect">
            <a:avLst>
              <a:gd name="adj" fmla="val 0"/>
            </a:avLst>
          </a:prstGeom>
          <a:solidFill>
            <a:srgbClr val="28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4864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B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64748B"/>
                </a:solidFill>
                <a:latin typeface="Consolas"/>
              </a:rPr>
              <a:t>TACET  ·  Team KRMU159  ·  SIH26151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5577840" cy="1152144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91056"/>
            <a:ext cx="32004" cy="85953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6276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2D3EE"/>
                </a:solidFill>
                <a:latin typeface="Consolas"/>
              </a:rPr>
              <a:t>53 / 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01168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API smoke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212848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auth, SQL health, graph edges, OFAC screening, ingest, audit 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3" y="1444752"/>
            <a:ext cx="5577840" cy="1152144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3" y="1591056"/>
            <a:ext cx="32004" cy="85953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16276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38BDF8"/>
                </a:solidFill>
                <a:latin typeface="Consolas"/>
              </a:rPr>
              <a:t>83 / 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01168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UI interaction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212848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sorting, graph zoom + inspector, command palette, live chain query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43200"/>
            <a:ext cx="5577840" cy="1152144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889504"/>
            <a:ext cx="32004" cy="859536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2926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A78BFA"/>
                </a:solidFill>
                <a:latin typeface="Consolas"/>
              </a:rPr>
              <a:t>86.2% ± 0.8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331012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Model CV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3511296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5-fold over 751 real documents by 20 real authors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4223" y="2743200"/>
            <a:ext cx="5577840" cy="1152144"/>
          </a:xfrm>
          <a:prstGeom prst="roundRect">
            <a:avLst>
              <a:gd name="adj" fmla="val 5500"/>
            </a:avLst>
          </a:prstGeom>
          <a:solidFill>
            <a:srgbClr val="141A24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64223" y="2889504"/>
            <a:ext cx="32004" cy="85953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2926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34D399"/>
                </a:solidFill>
                <a:latin typeface="Consolas"/>
              </a:rPr>
              <a:t>82.8%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331012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F1F5F9"/>
                </a:solidFill>
                <a:latin typeface="Segoe UI"/>
              </a:rPr>
              <a:t>Model held-out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3511296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macro-F1 0.79 on the real test split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07407"/>
            <a:ext cx="5577840" cy="1828800"/>
          </a:xfrm>
          <a:prstGeom prst="roundRect">
            <a:avLst>
              <a:gd name="adj" fmla="val 5500"/>
            </a:avLst>
          </a:prstGeom>
          <a:solidFill>
            <a:srgbClr val="1B2230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5537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22D3EE"/>
                </a:solidFill>
                <a:latin typeface="Segoe UI"/>
              </a:rPr>
              <a:t>REPRODUCIBILITY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828031"/>
            <a:ext cx="5138928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onsolas"/>
              </a:rPr>
              <a:t>• node scripts/smoke.mjs  → 53 API checks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onsolas"/>
              </a:rPr>
              <a:t>• node qa/audit.mjs        → 83 UI checks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onsolas"/>
              </a:rPr>
              <a:t>• python server/ml/train.py → retrains the model (writes metrics.json)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onsolas"/>
              </a:rPr>
              <a:t>• POST /api/ingest/seed     → restores the deterministic corpus in one click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4407407"/>
            <a:ext cx="5349240" cy="1828800"/>
          </a:xfrm>
          <a:prstGeom prst="roundRect">
            <a:avLst>
              <a:gd name="adj" fmla="val 5500"/>
            </a:avLst>
          </a:prstGeom>
          <a:solidFill>
            <a:srgbClr val="1B2230"/>
          </a:solidFill>
          <a:ln w="9525">
            <a:solidFill>
              <a:srgbClr val="1E2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553712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22D3EE"/>
                </a:solidFill>
                <a:latin typeface="Segoe UI"/>
              </a:rPr>
              <a:t>FOUNDATIONS OF 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4828031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SHA-256 evidence hash on every post and address; a hash-chained audit log with a server-side verifier; PBKDF2 password hashing; strict separation of the fictional demo personas from the real OFAC / 20 Newsgroups / blockchain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